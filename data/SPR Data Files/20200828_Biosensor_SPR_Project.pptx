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678F4F-7D12-4408-B686-6484A8B9CEDA}">
  <a:tblStyle styleId="{7B678F4F-7D12-4408-B686-6484A8B9CED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would you need to know?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is the chip I'm working with?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is the ligand?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is the target/analyte?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buffers and chemicals do I need?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kinds of tests am I running?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will my control be?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Consider including some of the SPR results from the Miller/Giangrande paper.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During our call with Brian, we agreed that our first round of tests would mainly focus on confirming specific histone-aptamer binding.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You can frame your design of experiments around answering this question.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would you need to know?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is the chip I'm working with?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is the ligand?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is the target/analyte?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buffers and chemicals do I need?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kinds of tests am I running?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will my control be?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Consider including some of the SPR results from the Miller/Giangrande paper.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During our call with Brian, we agreed that our first round of tests would mainly focus on confirming specific histone-aptamer binding.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You can frame your design of experiments around answering this question.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Arial"/>
              <a:buNone/>
            </a:pPr>
            <a:r>
              <a:rPr b="0" i="0" lang="en-US">
                <a:solidFill>
                  <a:srgbClr val="2E2E2E"/>
                </a:solidFill>
                <a:latin typeface="Arial"/>
                <a:ea typeface="Arial"/>
                <a:cs typeface="Arial"/>
                <a:sym typeface="Arial"/>
              </a:rPr>
              <a:t>MCH: a spacer between immobilized aptamer molecules for enhancing specificity and optimizing aptamer orientation </a:t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3" name="Google Shape;2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10347960" y="65836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4038600" y="6583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-7620" y="0"/>
            <a:ext cx="1220724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63486" cy="27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381000" y="914400"/>
            <a:ext cx="11430000" cy="5304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10347960" y="65836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4038600" y="6583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idx="2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10347960" y="65836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4038600" y="6583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381000" y="914400"/>
            <a:ext cx="5669280" cy="30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41720" y="914400"/>
            <a:ext cx="5669280" cy="3039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10347960" y="65836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038600" y="6583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/>
          <p:nvPr>
            <p:ph idx="3" type="body"/>
          </p:nvPr>
        </p:nvSpPr>
        <p:spPr>
          <a:xfrm>
            <a:off x="380998" y="4068977"/>
            <a:ext cx="11430000" cy="2083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4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Rows">
  <p:cSld name="Two Row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381000" y="914399"/>
            <a:ext cx="114300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10347960" y="65836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038600" y="6583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6"/>
          <p:cNvSpPr txBox="1"/>
          <p:nvPr>
            <p:ph idx="2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3" type="body"/>
          </p:nvPr>
        </p:nvSpPr>
        <p:spPr>
          <a:xfrm>
            <a:off x="380998" y="4362450"/>
            <a:ext cx="11430000" cy="186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381000" y="914400"/>
            <a:ext cx="5669280" cy="530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2" type="body"/>
          </p:nvPr>
        </p:nvSpPr>
        <p:spPr>
          <a:xfrm>
            <a:off x="6141720" y="914400"/>
            <a:ext cx="5669280" cy="5304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10347960" y="65836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4038600" y="6583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/>
          <p:nvPr>
            <p:ph idx="3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" type="body"/>
          </p:nvPr>
        </p:nvSpPr>
        <p:spPr>
          <a:xfrm>
            <a:off x="381000" y="1350628"/>
            <a:ext cx="5669280" cy="48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2" type="body"/>
          </p:nvPr>
        </p:nvSpPr>
        <p:spPr>
          <a:xfrm>
            <a:off x="6141720" y="1350628"/>
            <a:ext cx="5669280" cy="4868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0" type="dt"/>
          </p:nvPr>
        </p:nvSpPr>
        <p:spPr>
          <a:xfrm>
            <a:off x="10347960" y="65836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4038600" y="6583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8"/>
          <p:cNvSpPr txBox="1"/>
          <p:nvPr>
            <p:ph idx="3" type="body"/>
          </p:nvPr>
        </p:nvSpPr>
        <p:spPr>
          <a:xfrm>
            <a:off x="380998" y="925679"/>
            <a:ext cx="5669279" cy="424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/>
            </a:lvl1pPr>
            <a:lvl2pPr indent="-3810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/>
            </a:lvl2pPr>
            <a:lvl3pPr indent="-355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429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4" type="body"/>
          </p:nvPr>
        </p:nvSpPr>
        <p:spPr>
          <a:xfrm>
            <a:off x="6141720" y="925679"/>
            <a:ext cx="5669279" cy="424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/>
            </a:lvl1pPr>
            <a:lvl2pPr indent="-3810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/>
            </a:lvl2pPr>
            <a:lvl3pPr indent="-355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429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5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drants">
  <p:cSld name="Quadran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381000" y="914400"/>
            <a:ext cx="5669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2" type="body"/>
          </p:nvPr>
        </p:nvSpPr>
        <p:spPr>
          <a:xfrm>
            <a:off x="6141720" y="914400"/>
            <a:ext cx="5669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10347960" y="65836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4038600" y="6583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380999" y="3574188"/>
            <a:ext cx="5669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141718" y="3574188"/>
            <a:ext cx="5669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5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0" type="dt"/>
          </p:nvPr>
        </p:nvSpPr>
        <p:spPr>
          <a:xfrm>
            <a:off x="10347960" y="65836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1" type="ftr"/>
          </p:nvPr>
        </p:nvSpPr>
        <p:spPr>
          <a:xfrm>
            <a:off x="4038600" y="6583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7620" y="6583680"/>
            <a:ext cx="1220724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583680"/>
            <a:ext cx="1763486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381000" y="914400"/>
            <a:ext cx="11430000" cy="5304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10347960" y="65836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4038600" y="6583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-30480" y="822960"/>
            <a:ext cx="12252960" cy="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i.org/10.1038/s41467-018-08030-y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i.org/10.1038/s41467-018-08030-y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cytivalifesciences.com/en/us/shop/protein-analysis/spr-label-free-analysis/sensor-chips/sia-kit-au-p-05862" TargetMode="External"/><Relationship Id="rId4" Type="http://schemas.openxmlformats.org/officeDocument/2006/relationships/hyperlink" Target="https://www.sigmaaldrich.com/catalog/product/sigma/h9250?lang=en&amp;region=US" TargetMode="External"/><Relationship Id="rId5" Type="http://schemas.openxmlformats.org/officeDocument/2006/relationships/hyperlink" Target="https://www.idtdna.com/pages/products/reagents-and-kits/buffers-and-solutions" TargetMode="External"/><Relationship Id="rId6" Type="http://schemas.openxmlformats.org/officeDocument/2006/relationships/hyperlink" Target="https://www.cytivalifesciences.com/en/us/shop/protein-analysis/spr-label-free-analysis/running-buffers/pbs-buffer-10-p-06241" TargetMode="External"/><Relationship Id="rId7" Type="http://schemas.openxmlformats.org/officeDocument/2006/relationships/hyperlink" Target="https://www.cytivalifesciences.com/en/us/shop/protein-analysis/spr-label-free-analysis/running-buffers/hbs-ep-buffer-10-p-05723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hyperlink" Target="https://doi.org/10.1038/srep44409" TargetMode="External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i.org/10.1038/s41467-018-08030-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i.org/10.1038/srep44409" TargetMode="External"/><Relationship Id="rId4" Type="http://schemas.openxmlformats.org/officeDocument/2006/relationships/hyperlink" Target="https://doi.org/10.1016/j.bios.2015.12.086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hyperlink" Target="https://doi.org/10.1021/acs.nanolett.5b00133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ctrTitle"/>
          </p:nvPr>
        </p:nvSpPr>
        <p:spPr>
          <a:xfrm>
            <a:off x="1524000" y="1122363"/>
            <a:ext cx="9144000" cy="26658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Selective Detection of Histones on RNA Aptamer-Functionalized Gold Surfaces using SPR</a:t>
            </a:r>
            <a:endParaRPr/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>
            <a:off x="1524000" y="387200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Hayley Richardson, Francis Miller, Spyridon Pavlidis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700"/>
              <a:t>Contact: hrichar2@ncsu.edu, francis.miller@duke.edu, spavlidis@ncsu.edu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August 2020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381000" y="914400"/>
            <a:ext cx="11430000" cy="5304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Project Objective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Background/Previous experiments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Materials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Aptamer (Ligand) Immobilization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Histone (Analyte) Preparation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Proposed experiments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Appendix</a:t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Project Objective</a:t>
            </a:r>
            <a:endParaRPr/>
          </a:p>
        </p:txBody>
      </p:sp>
      <p:sp>
        <p:nvSpPr>
          <p:cNvPr id="109" name="Google Shape;109;p13"/>
          <p:cNvSpPr txBox="1"/>
          <p:nvPr>
            <p:ph idx="1" type="body"/>
          </p:nvPr>
        </p:nvSpPr>
        <p:spPr>
          <a:xfrm>
            <a:off x="381000" y="914400"/>
            <a:ext cx="11430000" cy="5304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Primary objective: </a:t>
            </a:r>
            <a:r>
              <a:rPr lang="en-US"/>
              <a:t>to validate the selective binding of RNA aptamers immobilized onto gold surfaces with histones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Secondary objectives: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</a:pPr>
            <a:r>
              <a:rPr lang="en-US"/>
              <a:t>To determine how the limit of detection (LOD) is impacted by: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Analyte: human histones (H4) vs. calf thymus histones (CTH)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Buffer selection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Buffer dilution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Aptamer to “spacer” molecule ratio on chip surface</a:t>
            </a:r>
            <a:endParaRPr>
              <a:highlight>
                <a:srgbClr val="00FFFF"/>
              </a:highlight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</a:pPr>
            <a:r>
              <a:rPr lang="en-US"/>
              <a:t>To confirm minimal presence of non-specific binding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</a:pPr>
            <a:r>
              <a:rPr lang="en-US"/>
              <a:t>To use SPR as a control for independent electrical sensing measurements</a:t>
            </a:r>
            <a:endParaRPr/>
          </a:p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3"/>
          <p:cNvSpPr txBox="1"/>
          <p:nvPr>
            <p:ph idx="2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381000" y="914400"/>
            <a:ext cx="11430000" cy="5304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presence of histones (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11-21 kDa)</a:t>
            </a:r>
            <a:r>
              <a:rPr lang="en-US"/>
              <a:t> in the blood is linked to the onset of multiple organ disorder syndrome (MODS).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Urak et al. identified an RNA aptamer (KU7) that can specifically bind to human histone (H4) as a form of treatment (i.e., “deactivate” histones)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Specificity was validated using SPR (results on next slide), but their approach differed from ours: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/>
              <a:t>They used histones as the ligand and aptamers as the analyte. We aim to do the opposite.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/>
              <a:t>They used a high capacity, dextran-based SPR chip (i.e., CDH Biosensor chip). This is not compatible with our electrical sensing method. We are instead aiming to use the SIA Au Kit (bare gold).</a:t>
            </a:r>
            <a:endParaRPr/>
          </a:p>
        </p:txBody>
      </p:sp>
      <p:sp>
        <p:nvSpPr>
          <p:cNvPr id="118" name="Google Shape;118;p14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4"/>
          <p:cNvSpPr txBox="1"/>
          <p:nvPr>
            <p:ph idx="2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K. T. Urak </a:t>
            </a:r>
            <a:r>
              <a:rPr i="1" lang="en-US"/>
              <a:t>et al.</a:t>
            </a:r>
            <a:r>
              <a:rPr lang="en-US"/>
              <a:t>, “RNA inhibitors of nuclear proteins responsible for multiple organ dysfunction syndrome,” </a:t>
            </a:r>
            <a:r>
              <a:rPr i="1" lang="en-US"/>
              <a:t>Nature Communications</a:t>
            </a:r>
            <a:r>
              <a:rPr lang="en-US"/>
              <a:t>, vol. 10, no. 1, p. 116, Jan. 2019, doi: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10.1038/s41467-018-08030-y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Background – SPR Results</a:t>
            </a:r>
            <a:endParaRPr/>
          </a:p>
        </p:txBody>
      </p:sp>
      <p:sp>
        <p:nvSpPr>
          <p:cNvPr id="125" name="Google Shape;125;p15"/>
          <p:cNvSpPr txBox="1"/>
          <p:nvPr>
            <p:ph idx="1" type="body"/>
          </p:nvPr>
        </p:nvSpPr>
        <p:spPr>
          <a:xfrm>
            <a:off x="381000" y="914400"/>
            <a:ext cx="11430000" cy="5311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Ligand (CTH and H4) immobilization done by amine coupling on CDH biosensor chip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Negative control: BSA immobilized as ligand</a:t>
            </a:r>
            <a:endParaRPr/>
          </a:p>
          <a:p>
            <a:pPr indent="-10414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Further notes: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/>
              <a:t>Data were processed by subtracting the reference channel signal and buffer blank responses (double referencing method).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/>
              <a:t>The sensor surface was regenerated after each analyte cycle by injecting 1M NaCl for 1 min. </a:t>
            </a:r>
            <a:endParaRPr/>
          </a:p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5"/>
          <p:cNvSpPr txBox="1"/>
          <p:nvPr>
            <p:ph idx="2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K. T. Urak </a:t>
            </a:r>
            <a:r>
              <a:rPr i="1" lang="en-US"/>
              <a:t>et al.</a:t>
            </a:r>
            <a:r>
              <a:rPr lang="en-US"/>
              <a:t>, “RNA inhibitors of nuclear proteins responsible for multiple organ dysfunction syndrome,” </a:t>
            </a:r>
            <a:r>
              <a:rPr i="1" lang="en-US"/>
              <a:t>Nature Communications</a:t>
            </a:r>
            <a:r>
              <a:rPr lang="en-US"/>
              <a:t>, vol. 10, no. 1, p. 116, Jan. 2019, doi: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10.1038/s41467-018-08030-y</a:t>
            </a:r>
            <a:r>
              <a:rPr lang="en-US"/>
              <a:t>.</a:t>
            </a:r>
            <a:endParaRPr/>
          </a:p>
        </p:txBody>
      </p:sp>
      <p:pic>
        <p:nvPicPr>
          <p:cNvPr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4258" y="2180922"/>
            <a:ext cx="2978723" cy="178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8429" y="2212659"/>
            <a:ext cx="2872935" cy="1723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92981" y="2180922"/>
            <a:ext cx="3006090" cy="17872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p15"/>
          <p:cNvGraphicFramePr/>
          <p:nvPr/>
        </p:nvGraphicFramePr>
        <p:xfrm>
          <a:off x="6207442" y="418761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{7B678F4F-7D12-4408-B686-6484A8B9CEDA}</a:tableStyleId>
              </a:tblPr>
              <a:tblGrid>
                <a:gridCol w="1134325"/>
                <a:gridCol w="1134325"/>
                <a:gridCol w="1134325"/>
                <a:gridCol w="1073775"/>
                <a:gridCol w="1065850"/>
              </a:tblGrid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Analyte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Ligand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="1" baseline="-25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(M</a:t>
                      </a:r>
                      <a:r>
                        <a:rPr b="1" baseline="30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b="1" baseline="30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="1" baseline="-25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(s</a:t>
                      </a:r>
                      <a:r>
                        <a:rPr b="1" baseline="30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="1" baseline="-25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KU7</a:t>
                      </a:r>
                      <a:endParaRPr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1.62±0.03e5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9.15±0.06e-4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5.6±0.1nM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b"/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KU7</a:t>
                      </a:r>
                      <a:endParaRPr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H4</a:t>
                      </a:r>
                      <a:endParaRPr/>
                    </a:p>
                  </a:txBody>
                  <a:tcPr marT="0" marB="0" marR="68575" marL="685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5.62±0.05e5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2.25±0.01e-3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4.01±0.04nM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b"/>
                </a:tc>
              </a:tr>
            </a:tbl>
          </a:graphicData>
        </a:graphic>
      </p:graphicFrame>
      <p:sp>
        <p:nvSpPr>
          <p:cNvPr id="132" name="Google Shape;132;p15"/>
          <p:cNvSpPr txBox="1"/>
          <p:nvPr/>
        </p:nvSpPr>
        <p:spPr>
          <a:xfrm>
            <a:off x="4171849" y="1811590"/>
            <a:ext cx="39677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Biggest response with CTH as ligand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392906" y="4126805"/>
            <a:ext cx="613791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Aptamers concentrations tested: 100nM (blue), 50nM (black), 25nM (red), 12.5nM (green), 10nM (magenta)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Materials</a:t>
            </a:r>
            <a:endParaRPr/>
          </a:p>
        </p:txBody>
      </p:sp>
      <p:sp>
        <p:nvSpPr>
          <p:cNvPr id="140" name="Google Shape;140;p16"/>
          <p:cNvSpPr txBox="1"/>
          <p:nvPr>
            <p:ph idx="1" type="body"/>
          </p:nvPr>
        </p:nvSpPr>
        <p:spPr>
          <a:xfrm>
            <a:off x="381000" y="914400"/>
            <a:ext cx="11430000" cy="5304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Chip: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SIA Kit Au</a:t>
            </a:r>
            <a:r>
              <a:rPr lang="en-US"/>
              <a:t> (Cytiva). NCSU has already purchased a set (currently have 5 chips)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Ligand: Single strand RNA aptamers (KU7) 20 kDa with thiol termination (IDT). 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/>
              <a:t>Chip surface is a mixed monolayer with ligand and 6-mercapto-1-hexanol (MCH)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Analyte: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Calf Thymus Histone, </a:t>
            </a:r>
            <a:r>
              <a:rPr lang="en-US"/>
              <a:t>11-21 kDa (Millipore Sigma)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/>
              <a:t>Since the strongest response was seen with CTH previously, we recommend that first experiments are done with it as the analyte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Buffers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/>
              <a:t>RNA suspended in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TE buffer </a:t>
            </a:r>
            <a:r>
              <a:rPr lang="en-US"/>
              <a:t>(10 mM Tris HCl, 0.1 mM EDTA, pH 7.5) (IDT)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/>
              <a:t>Running buffer – </a:t>
            </a:r>
            <a:r>
              <a:rPr lang="en-US">
                <a:highlight>
                  <a:srgbClr val="FFFF00"/>
                </a:highlight>
              </a:rPr>
              <a:t>Input needed to select from: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PBS</a:t>
            </a:r>
            <a:r>
              <a:rPr lang="en-US"/>
              <a:t> (Cytiva)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7"/>
              </a:rPr>
              <a:t>HBS</a:t>
            </a:r>
            <a:r>
              <a:rPr lang="en-US"/>
              <a:t> variety (Cytiva)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Urak et al used 10 mM HEPES pH 7.4, 150 mM NaCl, and 2 mM CaCl</a:t>
            </a:r>
            <a:r>
              <a:rPr baseline="-25000" lang="en-US"/>
              <a:t>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Diluted Buffer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Negative control: BSA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/>
              <a:t>Consistent with Urak paper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>
                <a:highlight>
                  <a:srgbClr val="FFFF00"/>
                </a:highlight>
              </a:rPr>
              <a:t>Should NCSU purchase?</a:t>
            </a:r>
            <a:endParaRPr/>
          </a:p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6"/>
          <p:cNvSpPr txBox="1"/>
          <p:nvPr>
            <p:ph idx="2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Aptamer (Ligand) Immobilization</a:t>
            </a:r>
            <a:endParaRPr/>
          </a:p>
        </p:txBody>
      </p:sp>
      <p:sp>
        <p:nvSpPr>
          <p:cNvPr id="149" name="Google Shape;149;p17"/>
          <p:cNvSpPr txBox="1"/>
          <p:nvPr>
            <p:ph idx="1" type="body"/>
          </p:nvPr>
        </p:nvSpPr>
        <p:spPr>
          <a:xfrm>
            <a:off x="381000" y="914400"/>
            <a:ext cx="11430000" cy="5114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To be executed by NCSU prior to SPR chip delivery to Duke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The surface is immobilized with both active ligands (RNA aptamers) &amp; “Spacer” Molecules (MCH)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RNA aptamers are terminated with thiol groups. Immobilization relies on thiol-Au organization to tether RNA to surface.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Spacer molecules (6-mecapto-1-hexanol, MCH) separate aptamers to reduce repulsion and competitive binding.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Procedure: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/>
              <a:t>Immerse the clean surface of the gold in 1 µM aptamer solution for at least 10 hours, 25°C at neutral pH.</a:t>
            </a:r>
            <a:endParaRPr sz="2000"/>
          </a:p>
          <a:p>
            <a:pPr indent="-4572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/>
              <a:t>Immerse the surface with 1 mM MCH in TE buffer for at least 3 hours.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/>
              <a:t>Briefly wash in TE buffer.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/>
              <a:t>Store at ~ 4°C if not immediately used.</a:t>
            </a:r>
            <a:endParaRPr/>
          </a:p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7"/>
          <p:cNvSpPr txBox="1"/>
          <p:nvPr>
            <p:ph idx="2" type="body"/>
          </p:nvPr>
        </p:nvSpPr>
        <p:spPr>
          <a:xfrm>
            <a:off x="-7620" y="6029324"/>
            <a:ext cx="12207240" cy="5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P. Fenter, F. Schreiber, L. Berman, G. Scoles, P. Eisenberger and M. J. Bedzyk, Surf. Sci., 1998, 412–13, 213–235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Josephs, E. A., &amp; Ye, T. (2013). Nanoscale spatial distribution of thiolated DNA on model nucleic acid sensor surfaces. Acs Nano, 7(4), 3653-3660.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Aliakbarinodehi, N., Jolly, P., Bhalla, N., Miodek, A., De Micheli, G., Estrela, P., &amp; Carrara, S. (2017). Aptamer-based field-effect biosensor for tenofovir detection. Scientific reports, 7(1), 1-10.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1460480" y="6583680"/>
            <a:ext cx="7225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7991475" y="5476219"/>
            <a:ext cx="441959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amine coupling used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Aptamer (Ligand) Immobilization (cont’d)</a:t>
            </a:r>
            <a:endParaRPr/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380999" y="914400"/>
            <a:ext cx="9377364" cy="3467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Ligand (RNA) is received with thiol group on 5’ terminal end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Thiol groups forms covalent bond with gold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6-mecapto-1-hexanol (MCH) is added to surface after ligand immobilization </a:t>
            </a:r>
            <a:r>
              <a:rPr lang="en-US" sz="1800"/>
              <a:t>(</a:t>
            </a:r>
            <a:r>
              <a:rPr i="1" lang="en-US" sz="1800"/>
              <a:t>also thiol terminated)</a:t>
            </a:r>
            <a:endParaRPr sz="2000"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MCH forms a similar self-assembled monolayer and separates RNA to reduce repulsion and competitive binding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1 µM RNA solution followed by 1 mM MCH solution.</a:t>
            </a:r>
            <a:endParaRPr/>
          </a:p>
        </p:txBody>
      </p:sp>
      <p:sp>
        <p:nvSpPr>
          <p:cNvPr id="161" name="Google Shape;161;p18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236051" y="4514479"/>
            <a:ext cx="520065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Histones (green) binding to RNA aptamers (blue). Thiol groups (red) tether molecule to Au or space out ligands. </a:t>
            </a:r>
            <a:endParaRPr/>
          </a:p>
        </p:txBody>
      </p: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5641" y="876431"/>
            <a:ext cx="2283000" cy="255256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9645641" y="3429000"/>
            <a:ext cx="23952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KU7: RNA aptamer</a:t>
            </a:r>
            <a:endParaRPr/>
          </a:p>
        </p:txBody>
      </p:sp>
      <p:pic>
        <p:nvPicPr>
          <p:cNvPr descr="6-Mercapto-1-hexanol | CAS#:1633-78-9 | Chemsrc" id="165" name="Google Shape;165;p18"/>
          <p:cNvPicPr preferRelativeResize="0"/>
          <p:nvPr/>
        </p:nvPicPr>
        <p:blipFill rotWithShape="1">
          <a:blip r:embed="rId4">
            <a:alphaModFix/>
          </a:blip>
          <a:srcRect b="35122" l="0" r="0" t="39633"/>
          <a:stretch/>
        </p:blipFill>
        <p:spPr>
          <a:xfrm>
            <a:off x="6989746" y="3045700"/>
            <a:ext cx="2338388" cy="532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0" y="6021072"/>
            <a:ext cx="120323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Y. R. Fernandez et. Al, “Aptamer-functionalized graphene-gold nanocomposites for label-free detection of dielectrophoretic-enriched neuropeptide.” </a:t>
            </a:r>
            <a:r>
              <a:rPr i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Electrochemistry Communications, 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vol. 72 Sept. 2016. DOI: 10.1016/j.elecom.2016.09.017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N. Aliakbarinodehi </a:t>
            </a:r>
            <a:r>
              <a:rPr i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“Aptamer-based Field-Effect Biosensor for Tenofovir Detection,” </a:t>
            </a:r>
            <a:r>
              <a:rPr i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Scientific Reports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vol. 7, p. 44409, Mar. 2017, doi: </a:t>
            </a:r>
            <a:r>
              <a:rPr lang="en-US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10.1038/srep44409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 rotWithShape="1">
          <a:blip r:embed="rId6">
            <a:alphaModFix/>
          </a:blip>
          <a:srcRect b="5146" l="32438" r="51203" t="72612"/>
          <a:stretch/>
        </p:blipFill>
        <p:spPr>
          <a:xfrm>
            <a:off x="969827" y="3621965"/>
            <a:ext cx="4191892" cy="21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6980668" y="3526706"/>
            <a:ext cx="23952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MCH structure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Histone (Analyte) Preparation</a:t>
            </a:r>
            <a:endParaRPr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381000" y="914400"/>
            <a:ext cx="11430000" cy="518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Raw materials provided by NCSU. Dilutions prepared by Duke.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Testing multiple concentrations can determine kinetic constants for binding.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/>
              <a:t>Create a 1 mM stock solution in buffer (e.g. PBS, HBS, custom HEPES)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/>
              <a:t>Make the desired concentrations to test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Urak: Two-fold dilution series (100nM, 50nM, 25nM, 12.5nM, 10nM)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highlight>
                  <a:srgbClr val="FFFF00"/>
                </a:highlight>
              </a:rPr>
              <a:t>Should we include higher concentrations? (1 uM, 10 uM, 1mM)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highlight>
                  <a:srgbClr val="FFFF00"/>
                </a:highlight>
              </a:rPr>
              <a:t>Possibility of saturation limit</a:t>
            </a:r>
            <a:endParaRPr>
              <a:highlight>
                <a:srgbClr val="00FFFF"/>
              </a:highlight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“In humans, the normal serum level of histones is very low (&lt; </a:t>
            </a:r>
            <a:r>
              <a:rPr b="1" lang="en-US" sz="2000"/>
              <a:t>0.6ng/mL</a:t>
            </a:r>
            <a:r>
              <a:rPr lang="en-US" sz="2000"/>
              <a:t>). Serum levels as high as </a:t>
            </a:r>
            <a:r>
              <a:rPr b="1" lang="en-US" sz="2000"/>
              <a:t>3ng/mL</a:t>
            </a:r>
            <a:r>
              <a:rPr lang="en-US" sz="2000"/>
              <a:t> have been reported in critically ill patients.”</a:t>
            </a:r>
            <a:endParaRPr sz="2000">
              <a:highlight>
                <a:srgbClr val="00FFFF"/>
              </a:highlight>
            </a:endParaRPr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19"/>
          <p:cNvSpPr txBox="1"/>
          <p:nvPr>
            <p:ph idx="2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K. T. Urak </a:t>
            </a:r>
            <a:r>
              <a:rPr i="1" lang="en-US"/>
              <a:t>et al.</a:t>
            </a:r>
            <a:r>
              <a:rPr lang="en-US"/>
              <a:t>, “RNA inhibitors of nuclear proteins responsible for multiple organ dysfunction syndrome,” </a:t>
            </a:r>
            <a:r>
              <a:rPr i="1" lang="en-US"/>
              <a:t>Nature Communications</a:t>
            </a:r>
            <a:r>
              <a:rPr lang="en-US"/>
              <a:t>, vol. 10, no. 1, p. 116, Jan. 2019, doi: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10.1038/s41467-018-08030-y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Claudet, C., Angelov, D., Bouvet, P., Dimitrov, S., &amp; Bednar, J. (2005). Histone octamer instability under single molecule experiment conditions. Journal of Biological Chemistry, 280(20), 19958-19965.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Proposed Experiment 1</a:t>
            </a:r>
            <a:endParaRPr/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381000" y="91440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Objective: Confirm selective binding of CTH to KU7</a:t>
            </a:r>
            <a:endParaRPr/>
          </a:p>
        </p:txBody>
      </p:sp>
      <p:sp>
        <p:nvSpPr>
          <p:cNvPr id="183" name="Google Shape;183;p20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84" name="Google Shape;184;p20"/>
          <p:cNvGraphicFramePr/>
          <p:nvPr/>
        </p:nvGraphicFramePr>
        <p:xfrm>
          <a:off x="232225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{7B678F4F-7D12-4408-B686-6484A8B9CEDA}</a:tableStyleId>
              </a:tblPr>
              <a:tblGrid>
                <a:gridCol w="2960925"/>
                <a:gridCol w="2570475"/>
                <a:gridCol w="6217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Parameter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Choice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Comment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Chip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SIA Au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Ligand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KU7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Buffer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 Urak’s?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Flow Rate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 Urak’s? (4 mins</a:t>
                      </a:r>
                      <a:r>
                        <a:rPr lang="en-US" sz="1800"/>
                        <a:t> at </a:t>
                      </a:r>
                      <a:r>
                        <a:rPr lang="en-US" sz="1800"/>
                        <a:t>30 µL/min)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Analyte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Analyte Dilutions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Urak’s: 2-fold series dilution of</a:t>
                      </a:r>
                      <a:r>
                        <a:rPr lang="en-US" sz="1800"/>
                        <a:t> 1</a:t>
                      </a:r>
                      <a:r>
                        <a:rPr lang="en-US" sz="1800"/>
                        <a:t>00nM to 10nm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Negative Control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Negative Control Dilutions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Use same concentration range as analyte?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Regeneration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Urak used “1M NaCl for 1 min”. Perhaps first try “Kinetic titration” w/o regeneration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Reference Channel: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Separate chip needed*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5" name="Google Shape;185;p20"/>
          <p:cNvSpPr txBox="1"/>
          <p:nvPr/>
        </p:nvSpPr>
        <p:spPr>
          <a:xfrm>
            <a:off x="2209800" y="5937349"/>
            <a:ext cx="101273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*Unlike amine coupling experiments, where a reference channel can be made on the same chip, we cannot do this here because the ligand (aptamer) is already immobilized before insert the chip into the SPR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therefore need to provide you with a separate reference chip that has an MCH-based SAM, but no aptamer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Proposed Experiment 2 - TBD</a:t>
            </a:r>
            <a:endParaRPr/>
          </a:p>
        </p:txBody>
      </p:sp>
      <p:sp>
        <p:nvSpPr>
          <p:cNvPr id="191" name="Google Shape;191;p21"/>
          <p:cNvSpPr txBox="1"/>
          <p:nvPr>
            <p:ph idx="1" type="body"/>
          </p:nvPr>
        </p:nvSpPr>
        <p:spPr>
          <a:xfrm>
            <a:off x="381000" y="914400"/>
            <a:ext cx="11430000" cy="5304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Objective: Evaluate limit of detection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Motivation: Electrical sensing papers usually have S-curve plots. Can we get something like this from SPR?</a:t>
            </a:r>
            <a:endParaRPr/>
          </a:p>
        </p:txBody>
      </p:sp>
      <p:sp>
        <p:nvSpPr>
          <p:cNvPr id="192" name="Google Shape;192;p21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21"/>
          <p:cNvSpPr txBox="1"/>
          <p:nvPr>
            <p:ph idx="2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(left) N. Aliakbarinodehi </a:t>
            </a:r>
            <a:r>
              <a:rPr i="1" lang="en-US"/>
              <a:t>et al.</a:t>
            </a:r>
            <a:r>
              <a:rPr lang="en-US"/>
              <a:t>, “Aptamer-based Field-Effect Biosensor for Tenofovir Detection,” </a:t>
            </a:r>
            <a:r>
              <a:rPr i="1" lang="en-US"/>
              <a:t>Scientific Reports</a:t>
            </a:r>
            <a:r>
              <a:rPr lang="en-US"/>
              <a:t>, vol. 7, p. 44409, Mar. 2017, doi: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10.1038/srep44409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(right) A. Tarasov </a:t>
            </a:r>
            <a:r>
              <a:rPr i="1" lang="en-US"/>
              <a:t>et al.</a:t>
            </a:r>
            <a:r>
              <a:rPr lang="en-US"/>
              <a:t>, “A potentiometric biosensor for rapid on-site disease diagnostics,” </a:t>
            </a:r>
            <a:r>
              <a:rPr i="1" lang="en-US"/>
              <a:t>Biosensors and Bioelectronics</a:t>
            </a:r>
            <a:r>
              <a:rPr lang="en-US"/>
              <a:t>, vol. 79, pp. 669–678, 2016, doi: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10.1016/j.bios.2015.12.086</a:t>
            </a:r>
            <a:r>
              <a:rPr lang="en-US"/>
              <a:t>.</a:t>
            </a:r>
            <a:endParaRPr/>
          </a:p>
        </p:txBody>
      </p:sp>
      <p:pic>
        <p:nvPicPr>
          <p:cNvPr id="194" name="Google Shape;19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824" y="2543174"/>
            <a:ext cx="5073577" cy="352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02225" y="2568840"/>
            <a:ext cx="4284739" cy="367126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9545953" y="5177771"/>
            <a:ext cx="264604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Warning: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buffer is 10 mM HBS-EP buffer.  See Appendix for why.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Proposed Experiment 2 – TBD (cont’d)</a:t>
            </a:r>
            <a:endParaRPr/>
          </a:p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381000" y="91440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Table needs to be updated.</a:t>
            </a:r>
            <a:endParaRPr/>
          </a:p>
        </p:txBody>
      </p:sp>
      <p:sp>
        <p:nvSpPr>
          <p:cNvPr id="203" name="Google Shape;203;p22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4" name="Google Shape;204;p22"/>
          <p:cNvGraphicFramePr/>
          <p:nvPr/>
        </p:nvGraphicFramePr>
        <p:xfrm>
          <a:off x="232225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{7B678F4F-7D12-4408-B686-6484A8B9CEDA}</a:tableStyleId>
              </a:tblPr>
              <a:tblGrid>
                <a:gridCol w="2960925"/>
                <a:gridCol w="2570475"/>
                <a:gridCol w="6217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Parameter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Choice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Comment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Chip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SIA Au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Ligand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KU7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Buffer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 Urak’s?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Flow Rate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 Urak’s? (4 mins</a:t>
                      </a:r>
                      <a:r>
                        <a:rPr lang="en-US" sz="1800"/>
                        <a:t> at </a:t>
                      </a:r>
                      <a:r>
                        <a:rPr lang="en-US" sz="1800"/>
                        <a:t>30 µL/min)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Analyte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Analyte Dilutions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Go higher than Urak?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Negative Control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Negative Control Dilutions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Use same concentration range as analyte?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Regeneration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Urak used “1M NaCl for 1 min”. Perhaps first try “Kinetic titration” w/o regeneration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Reference Channel: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Separate chip needed*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5" name="Google Shape;205;p22"/>
          <p:cNvSpPr txBox="1"/>
          <p:nvPr/>
        </p:nvSpPr>
        <p:spPr>
          <a:xfrm>
            <a:off x="2209800" y="5937349"/>
            <a:ext cx="101273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*Unlike amine coupling experiments, where a reference channel can be made on the same chip, we cannot do this here because the ligand (aptamer) is already immobilized before insert the chip into the SPR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therefore need to provide you with a separate reference chip that has an MCH-based SAM, but no aptamer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Proposed Experiment 3 - TBD</a:t>
            </a:r>
            <a:endParaRPr/>
          </a:p>
        </p:txBody>
      </p:sp>
      <p:sp>
        <p:nvSpPr>
          <p:cNvPr id="211" name="Google Shape;211;p23"/>
          <p:cNvSpPr txBox="1"/>
          <p:nvPr>
            <p:ph idx="1" type="body"/>
          </p:nvPr>
        </p:nvSpPr>
        <p:spPr>
          <a:xfrm>
            <a:off x="381000" y="91440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Objective: Kinetics evaluation.</a:t>
            </a:r>
            <a:endParaRPr/>
          </a:p>
        </p:txBody>
      </p:sp>
      <p:sp>
        <p:nvSpPr>
          <p:cNvPr id="212" name="Google Shape;212;p23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13" name="Google Shape;213;p23"/>
          <p:cNvGraphicFramePr/>
          <p:nvPr/>
        </p:nvGraphicFramePr>
        <p:xfrm>
          <a:off x="232225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{7B678F4F-7D12-4408-B686-6484A8B9CEDA}</a:tableStyleId>
              </a:tblPr>
              <a:tblGrid>
                <a:gridCol w="2960925"/>
                <a:gridCol w="2570475"/>
                <a:gridCol w="6217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Parameter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Choice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Comment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Chip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SIA Au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Ligand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KU7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Buffer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 Urak’s?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Flow Rate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 Urak’s? (4 mins</a:t>
                      </a:r>
                      <a:r>
                        <a:rPr lang="en-US" sz="1800"/>
                        <a:t> at </a:t>
                      </a:r>
                      <a:r>
                        <a:rPr lang="en-US" sz="1800"/>
                        <a:t>30 µL/min)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Analyte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Analyte Dilutions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Go higher than Urak?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Negative Control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Negative Control Dilutions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Use same concentration range as analyte?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Regeneration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Urak used “1M NaCl for 1 min”. Perhaps first try “Kinetic titration” w/o regeneration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Reference Channel: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Separate chip needed*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4" name="Google Shape;214;p23"/>
          <p:cNvSpPr txBox="1"/>
          <p:nvPr/>
        </p:nvSpPr>
        <p:spPr>
          <a:xfrm>
            <a:off x="2209800" y="5937349"/>
            <a:ext cx="101273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*Unlike amine coupling experiments, where a reference channel can be made on the same chip, we cannot do this here because the ligand (aptamer) is already immobilized before insert the chip into the SPR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therefore need to provide you with a separate reference chip that has an MCH-based SAM, but no aptamer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Proposed Experiment 4 - TBD</a:t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381000" y="91440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Objective: Kinetics evaluation.</a:t>
            </a:r>
            <a:endParaRPr/>
          </a:p>
        </p:txBody>
      </p:sp>
      <p:sp>
        <p:nvSpPr>
          <p:cNvPr id="221" name="Google Shape;221;p24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22" name="Google Shape;222;p24"/>
          <p:cNvGraphicFramePr/>
          <p:nvPr/>
        </p:nvGraphicFramePr>
        <p:xfrm>
          <a:off x="232225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{7B678F4F-7D12-4408-B686-6484A8B9CEDA}</a:tableStyleId>
              </a:tblPr>
              <a:tblGrid>
                <a:gridCol w="2960925"/>
                <a:gridCol w="2570475"/>
                <a:gridCol w="6217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Parameter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Choice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Comment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Chip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SIA Au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Ligand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KU7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Buffer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 Urak’s?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Flow Rate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 Urak’s? (4 mins</a:t>
                      </a:r>
                      <a:r>
                        <a:rPr lang="en-US" sz="1800"/>
                        <a:t> at </a:t>
                      </a:r>
                      <a:r>
                        <a:rPr lang="en-US" sz="1800"/>
                        <a:t>30 µL/min)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Analyte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Analyte Dilutions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Go higher than Urak?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Negative Control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Negative Control Dilutions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Use same concentration range as analyte?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Regeneration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Needs 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highlight>
                            <a:srgbClr val="FFFF00"/>
                          </a:highlight>
                        </a:rPr>
                        <a:t>Urak used “1M NaCl for 1 min”. Perhaps first try “Kinetic titration” w/o regeneration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Reference Channel: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Separate chip needed*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3" name="Google Shape;223;p24"/>
          <p:cNvSpPr txBox="1"/>
          <p:nvPr/>
        </p:nvSpPr>
        <p:spPr>
          <a:xfrm>
            <a:off x="2209800" y="5937349"/>
            <a:ext cx="101273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*Unlike amine coupling experiments, where a reference channel can be made on the same chip, we cannot do this here because the ligand (aptamer) is already immobilized before insert the chip into the SPR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therefore need to provide you with a separate reference chip that has an MCH-based SAM, but no aptamer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229" name="Google Shape;229;p25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Impact of Phosphate Buffer Ionic Strength</a:t>
            </a:r>
            <a:endParaRPr/>
          </a:p>
        </p:txBody>
      </p:sp>
      <p:pic>
        <p:nvPicPr>
          <p:cNvPr id="235" name="Google Shape;235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4396" y="914400"/>
            <a:ext cx="3902170" cy="304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1171" y="914400"/>
            <a:ext cx="3790695" cy="304006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6"/>
          <p:cNvSpPr txBox="1"/>
          <p:nvPr>
            <p:ph idx="3" type="body"/>
          </p:nvPr>
        </p:nvSpPr>
        <p:spPr>
          <a:xfrm>
            <a:off x="380998" y="4068977"/>
            <a:ext cx="11430000" cy="2083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electronic sensors, the higher the PB ionic strength, the weaker the signal (left graph)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be combatted by introducing PEG to the surface (right figure)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believe SPR is less sensitive so we would like to measure both high and low ionic strength PB solutions in both SPR and electrical sensors for direct comparison</a:t>
            </a:r>
            <a:endParaRPr/>
          </a:p>
        </p:txBody>
      </p:sp>
      <p:sp>
        <p:nvSpPr>
          <p:cNvPr id="239" name="Google Shape;239;p26"/>
          <p:cNvSpPr txBox="1"/>
          <p:nvPr>
            <p:ph idx="4" type="body"/>
          </p:nvPr>
        </p:nvSpPr>
        <p:spPr>
          <a:xfrm>
            <a:off x="-7620" y="6267532"/>
            <a:ext cx="1220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N. Gao, W. Zhou, X. Jiang, G. Hong, T.-M. Fu, and C. M. Lieber, “General Strategy for Biodetection in High Ionic Strength Solutions Using Transistor-Based Nanoelectronic Sensors,” </a:t>
            </a:r>
            <a:r>
              <a:rPr i="1" lang="en-US"/>
              <a:t>Nano Letters</a:t>
            </a:r>
            <a:r>
              <a:rPr lang="en-US"/>
              <a:t>, vol. 15, no. 3, pp. 2143–2148, 2015, doi: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10.1021/acs.nanolett.5b00133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/>
          <p:nvPr>
            <p:ph type="title"/>
          </p:nvPr>
        </p:nvSpPr>
        <p:spPr>
          <a:xfrm>
            <a:off x="380999" y="182880"/>
            <a:ext cx="114299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Pre-Blocking</a:t>
            </a:r>
            <a:endParaRPr/>
          </a:p>
        </p:txBody>
      </p:sp>
      <p:sp>
        <p:nvSpPr>
          <p:cNvPr id="246" name="Google Shape;246;p27"/>
          <p:cNvSpPr txBox="1"/>
          <p:nvPr>
            <p:ph idx="1" type="body"/>
          </p:nvPr>
        </p:nvSpPr>
        <p:spPr>
          <a:xfrm>
            <a:off x="217134" y="3719172"/>
            <a:ext cx="11815210" cy="231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 Brightbill (right figure) asserts that the non-specific binding is largely the result of defects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</a:pPr>
            <a:r>
              <a:rPr lang="en-US" sz="1400"/>
              <a:t>“Preblocking…stabilizes the chip before covalent functionalization while preserving the activity of the sensing surface and the protein receptors”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Josephs (left) found that adding DNA to an existing monolayer yields surfaces that are more uniform, but had too low DNA density for useable sensing.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The order of the surface functionalization steps could be a variable to adjust in later experiments to determine its relationship to monolayer quality and sensing performance. </a:t>
            </a:r>
            <a:endParaRPr/>
          </a:p>
        </p:txBody>
      </p:sp>
      <p:sp>
        <p:nvSpPr>
          <p:cNvPr id="247" name="Google Shape;247;p27"/>
          <p:cNvSpPr txBox="1"/>
          <p:nvPr>
            <p:ph idx="12" type="sldNum"/>
          </p:nvPr>
        </p:nvSpPr>
        <p:spPr>
          <a:xfrm>
            <a:off x="11460480" y="6583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27"/>
          <p:cNvSpPr txBox="1"/>
          <p:nvPr/>
        </p:nvSpPr>
        <p:spPr>
          <a:xfrm>
            <a:off x="0" y="6083519"/>
            <a:ext cx="120323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Nanoscale spatial distribution of thiolated DNA on model nucleic acid sensor surfaces. E. A. Josephs (2013).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Preblocking Procedure to Mitigate Nonselective Protein Adsorption for Carboxyl-SAMs Used in Biosensing. E.Brightbill et. al. (2019)</a:t>
            </a:r>
            <a:endParaRPr/>
          </a:p>
        </p:txBody>
      </p:sp>
      <p:pic>
        <p:nvPicPr>
          <p:cNvPr id="249" name="Google Shape;249;p27"/>
          <p:cNvPicPr preferRelativeResize="0"/>
          <p:nvPr/>
        </p:nvPicPr>
        <p:blipFill rotWithShape="1">
          <a:blip r:embed="rId3">
            <a:alphaModFix/>
          </a:blip>
          <a:srcRect b="3616" l="0" r="0" t="-1"/>
          <a:stretch/>
        </p:blipFill>
        <p:spPr>
          <a:xfrm>
            <a:off x="6600825" y="926604"/>
            <a:ext cx="5431518" cy="268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7"/>
          <p:cNvPicPr preferRelativeResize="0"/>
          <p:nvPr/>
        </p:nvPicPr>
        <p:blipFill rotWithShape="1">
          <a:blip r:embed="rId4">
            <a:alphaModFix/>
          </a:blip>
          <a:srcRect b="61597" l="0" r="0" t="0"/>
          <a:stretch/>
        </p:blipFill>
        <p:spPr>
          <a:xfrm>
            <a:off x="217134" y="1091406"/>
            <a:ext cx="4986225" cy="2266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